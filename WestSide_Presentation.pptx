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-548640"/>
            <a:ext cx="54864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0" b="1" i="0">
                <a:solidFill>
                  <a:srgbClr val="1A1A1A"/>
                </a:solidFill>
              </a:rPr>
              <a:t>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WESTSIDE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84C"/>
                </a:solidFill>
              </a:rPr>
              <a:t>AI-POWERED FASHION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60520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4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A0A0"/>
                </a:solidFill>
              </a:rPr>
              <a:t>Shop Smarter.  Style Better.  Try Before You Buy.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Powered by  Gemini AI  ·  React Native  · 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0D0D"/>
                </a:solidFill>
              </a:rPr>
              <a:t>Why Online Fashion Fails Shoppers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103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103120" cy="54864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783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</a:rPr>
              <a:t>60%+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0604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of fashion returns are due to wrong fit or look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554480"/>
            <a:ext cx="2103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0048" y="1554480"/>
            <a:ext cx="2103120" cy="54864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783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</a:rPr>
              <a:t>No try-before-you-buy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0604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Customers can't visualise clothes on themselves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4336" y="1554480"/>
            <a:ext cx="2103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74336" y="1554480"/>
            <a:ext cx="2103120" cy="54864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783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</a:rPr>
              <a:t>Broken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60604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Text search misses intent; no visual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8624" y="1554480"/>
            <a:ext cx="2103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78624" y="1554480"/>
            <a:ext cx="2103120" cy="54864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1783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</a:rPr>
              <a:t>Generic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260604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Apps don't adapt to personal style or vibe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82912" y="1554480"/>
            <a:ext cx="2103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82912" y="1554480"/>
            <a:ext cx="2103120" cy="54864"/>
          </a:xfrm>
          <a:prstGeom prst="rect">
            <a:avLst/>
          </a:prstGeom>
          <a:solidFill>
            <a:srgbClr val="E6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7504" y="1783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</a:rPr>
              <a:t>Fragmented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260604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AI tools exist elsewhere — not inside shopping 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One App. Every AI Feature You Need.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74320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</a:rPr>
              <a:t>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Virtual Try-On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AI places clothes on your photo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00200"/>
            <a:ext cx="274320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</a:rPr>
              <a:t>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Avatar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Custom avatar — no selfie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274320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</a:rPr>
              <a:t>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Visual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Photo → find matching products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00200"/>
            <a:ext cx="274320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</a:rPr>
              <a:t>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Moodboard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Inspo images → outfit picks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274320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</a:rPr>
              <a:t>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Voice AI Stylist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24/7 personal stylist, voice-enabled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886200"/>
            <a:ext cx="274320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</a:rPr>
              <a:t>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Size Predictor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983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Measurements → perfect size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86200"/>
            <a:ext cx="274320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</a:rPr>
              <a:t>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Complete the Look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83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Smart complementary item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886200"/>
            <a:ext cx="274320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</a:rPr>
              <a:t>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Real Westside Catalog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983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1800+ SKUs, Men/Women/Kids/Decor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FLAGSHIP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Virtual Try-On + Avatar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0D0D0D"/>
                </a:solidFill>
              </a:rPr>
              <a:t>→  1  Upload your full-body photo  OR  build a custom avatar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D0D0D"/>
                </a:solidFill>
              </a:rPr>
              <a:t>→  2  Browse the WestSide catalog by subcategory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D0D0D"/>
                </a:solidFill>
              </a:rPr>
              <a:t>→  3  Gemini 2.5 Image AI generates you wearing the item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D0D0D"/>
                </a:solidFill>
              </a:rPr>
              <a:t>→  4  Swipe through items in the same subcategory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D0D0D"/>
                </a:solidFill>
              </a:rPr>
              <a:t>→  5  Add to Bag directly from the try-on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5212080"/>
          </a:xfrm>
          <a:prstGeom prst="rect">
            <a:avLst/>
          </a:prstGeom>
          <a:solidFill>
            <a:srgbClr val="0D0D0D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Avatar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✦  Gender · Skin Tone · Body Type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✦  Face Shape · Hair Style &amp; Colour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✦  Eye Colour · Nose · Lips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0"/>
                </a:solidFill>
              </a:rPr>
              <a:t>No selfie required.
Fully customisable.
Privacy-first — photo stays on device.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5029200"/>
            <a:ext cx="5029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166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Screenshot prevention enabled — try freely, shop privately.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AI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Four Engines. One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57784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733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</a:rPr>
              <a:t>Visual Search
(Shop the Look)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Upload any outfit photo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Gemini vision detects main garment, gender, colour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BM25 search returns Top 5 matches from catalog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557784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733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</a:rPr>
              <a:t>AI Moodboard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8600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Upload 1–5 inspiration images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AI extracts colours, palette, setting, gender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Returns matching clothing — never home/decor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69080"/>
            <a:ext cx="557784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2336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</a:rPr>
              <a:t>Voice AI Stylist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463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Voice input → Gemini transcription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JSON reply: text + search query + follow-ups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Safety-filtered: no vulgar/communal/racist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69080"/>
            <a:ext cx="557784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2336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</a:rPr>
              <a:t>Size Predictor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8463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Enter bust, waist, hips in inches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Returns WestSide size (XS–XL)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·  Full size chart with brand + international sizing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0D0D"/>
                </a:solidFill>
              </a:rPr>
              <a:t>Every Screen Designed with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87451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874519" cy="457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57400"/>
            <a:ext cx="17373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Editorial poster carousels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Auto-slides every 4 seconds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✨ Stylist FAB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Dark + Light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1" y="1463040"/>
            <a:ext cx="187451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9151" y="1463040"/>
            <a:ext cx="1874519" cy="457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79" y="150876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057400"/>
            <a:ext cx="17373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Men · Women · Kids · Decor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31 subcategories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Shop by Brands grid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Subcategory ranking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8262" y="1463040"/>
            <a:ext cx="187451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2" y="1463040"/>
            <a:ext cx="1874519" cy="457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0" y="150876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0" y="2057400"/>
            <a:ext cx="17373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BM25 text search + history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Camera → Shop the Look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Upload Moodboard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Instant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7373" y="1463040"/>
            <a:ext cx="187451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3" y="1463040"/>
            <a:ext cx="1874519" cy="457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1" y="150876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1" y="2057400"/>
            <a:ext cx="17373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Multi-image gallery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Size chart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Try it On button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Complete the Look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4" y="1463040"/>
            <a:ext cx="187451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76484" y="1463040"/>
            <a:ext cx="1874519" cy="457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6212" y="150876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Wishlist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2" y="2057400"/>
            <a:ext cx="17373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Named collections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Bookmark + share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Filter by collection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2-column grid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595" y="1463040"/>
            <a:ext cx="1874519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595" y="1463040"/>
            <a:ext cx="1874519" cy="457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25323" y="1508760"/>
            <a:ext cx="1691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5323" y="2057400"/>
            <a:ext cx="17373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Clerk auth (Sign up/in)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Forgot/Change password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Orders &amp; Addresses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0D0D0D"/>
                </a:solidFill>
              </a:rPr>
              <a:t>·  Privacy &amp;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Production-Grade Full-Stack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280160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618488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</a:rPr>
              <a:t>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600200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Native · Expo SDK 54 · Expo Router · NativeWind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1280160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2368296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</a:rP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50008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Clerk  (Sign-up / Sign-in / Forgot Password)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08376"/>
            <a:ext cx="1280160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3118104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</a:rPr>
              <a:t>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99816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Stripe  (card payments, checkout flow)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58184"/>
            <a:ext cx="1280160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867912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49624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Node.js 18 · Express.js  REST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07992"/>
            <a:ext cx="1280160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4617720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59943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MongoDB Atlas · Mongoose ODM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280160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5367528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</a:rPr>
              <a:t>AI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349240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Gemini 2.5 Flash (text+vision) · Gemini Image Gen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508760"/>
            <a:ext cx="1280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618488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AI 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16002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Google Vertex AI  (billed, high quota)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258568"/>
            <a:ext cx="1280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368296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Images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3500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Cloudinary  (try-on result CDN + caching)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008376"/>
            <a:ext cx="1280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3118104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09981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Custom BM25 + stemming (productSearch.js)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758184"/>
            <a:ext cx="1280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3867912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Catalog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84962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Westside Shopify public API  (31 collections)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507992"/>
            <a:ext cx="1280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4617720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459943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AWS EC2 · PM2 · Elastic IP 13.127.13.124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257800"/>
            <a:ext cx="1280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367528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OTA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53492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EAS Update  (ship JS changes without rebuild)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0D0D"/>
                </a:solidFill>
              </a:rPr>
              <a:t>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5212080" cy="1463040"/>
          </a:xfrm>
          <a:prstGeom prst="rect">
            <a:avLst/>
          </a:prstGeom>
          <a:solidFill>
            <a:srgbClr val="0D0D0D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813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React Native App  (Expo SDK 54)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74519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Home · Categories · Search · Bag · Account
Try-On · Avatar · Stylist · Wishlist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0A0"/>
                </a:solidFill>
              </a:rPr>
              <a:t>HTTPS  REST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834640"/>
            <a:ext cx="4572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3291840"/>
            <a:ext cx="5212080" cy="1417320"/>
          </a:xfrm>
          <a:prstGeom prst="rect">
            <a:avLst/>
          </a:prstGeom>
          <a:solidFill>
            <a:srgbClr val="1A1A2E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4107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Node.js / Express  ·  AWS EC2  ·  PM2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947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Products · Cart · Orders
AI: TryOn · Avatar · Stylist · ShopTheLook · Moodboard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3474720" cy="1554480"/>
          </a:xfrm>
          <a:prstGeom prst="rect">
            <a:avLst/>
          </a:prstGeom>
          <a:solidFill>
            <a:srgbClr val="006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MongoDB Atlas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Products · Orders
Cart · TryonCache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937760"/>
            <a:ext cx="3474720" cy="1554480"/>
          </a:xfrm>
          <a:prstGeom prst="rect">
            <a:avLst/>
          </a:prstGeom>
          <a:solidFill>
            <a:srgbClr val="344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Cloudinary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40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Try-on image CDN
+ result caching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937760"/>
            <a:ext cx="3474720" cy="1554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Vertex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440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Gemini 2.5 Flash
+ Image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COMPETITIVE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WestSide vs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10896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17320"/>
            <a:ext cx="182880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</a:rPr>
              <a:t>WestSide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417320"/>
            <a:ext cx="1645920" cy="42062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50876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Myntra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417320"/>
            <a:ext cx="1645920" cy="42062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50876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Ajio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417320"/>
            <a:ext cx="1920240" cy="42062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50876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Nykaa Fashion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37944"/>
            <a:ext cx="310896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11096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Virtual Try-On (AI)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1837944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91109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837944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91109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837944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91109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1837944"/>
            <a:ext cx="192024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91109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258568"/>
            <a:ext cx="310896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331720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Avatar Creation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258568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233172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258568"/>
            <a:ext cx="164592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233172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2258568"/>
            <a:ext cx="164592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33172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2258568"/>
            <a:ext cx="192024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3317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679192"/>
            <a:ext cx="310896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752344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Visual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2679192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275234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679192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275234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2679192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275234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2679192"/>
            <a:ext cx="192024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275234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099816"/>
            <a:ext cx="310896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172968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 Moodboard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3099816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317296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099816"/>
            <a:ext cx="164592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0" y="317296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3099816"/>
            <a:ext cx="164592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0" y="317296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3099816"/>
            <a:ext cx="192024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31729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520440"/>
            <a:ext cx="310896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593592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Voice AI Stylist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3520440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66160" y="3593592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3520440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60" y="359359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9440" y="3520440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40880" y="359359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60" y="3520440"/>
            <a:ext cx="192024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359359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941064"/>
            <a:ext cx="310896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014216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Complete the Look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0" y="3941064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60" y="401421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0" y="3941064"/>
            <a:ext cx="164592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0" y="401421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49440" y="3941064"/>
            <a:ext cx="164592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40880" y="401421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3941064"/>
            <a:ext cx="192024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0" y="401421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361688"/>
            <a:ext cx="310896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434840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Size Predictor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74720" y="4361688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66160" y="443484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4361688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0" y="443484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49440" y="4361688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40880" y="443484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95360" y="4361688"/>
            <a:ext cx="192024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86800" y="443484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4782312"/>
            <a:ext cx="310896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4855464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Wishlist Collections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74720" y="4782312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66160" y="485546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3520" y="4782312"/>
            <a:ext cx="164592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94960" y="485546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49440" y="4782312"/>
            <a:ext cx="164592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40880" y="485546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4782312"/>
            <a:ext cx="1920240" cy="42062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86800" y="485546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63B3B"/>
                </a:solidFill>
              </a:rPr>
              <a:t>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5202936"/>
            <a:ext cx="310896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5276088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OTA Code Updates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74720" y="5202936"/>
            <a:ext cx="1828800" cy="420624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66160" y="527608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</a:rPr>
              <a:t>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303520" y="5202936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94960" y="527608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49440" y="5202936"/>
            <a:ext cx="1645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0" y="527608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95360" y="5202936"/>
            <a:ext cx="192024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86800" y="527608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N/A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0D0D"/>
                </a:solidFill>
              </a:rPr>
              <a:t>The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783080" cy="2560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78308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84C"/>
                </a:solidFill>
              </a:rPr>
              <a:t>$35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Indian online fashion
market by 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463040"/>
            <a:ext cx="1783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0008" y="1463040"/>
            <a:ext cx="178308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691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0D0D"/>
                </a:solidFill>
              </a:rPr>
              <a:t>18%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5146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Year-on-year growth
of Indian e-fashion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463040"/>
            <a:ext cx="1783080" cy="2560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178308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691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84C"/>
                </a:solidFill>
              </a:rPr>
              <a:t>700M+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5146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Smartphone users
in India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18504" y="1463040"/>
            <a:ext cx="1783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8504" y="1463040"/>
            <a:ext cx="178308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691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0D0D"/>
                </a:solidFill>
              </a:rPr>
              <a:t>150M+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5146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Online fashion
shoppers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63040"/>
            <a:ext cx="1783080" cy="2560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2752" y="1463040"/>
            <a:ext cx="178308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1691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84C"/>
                </a:solidFill>
              </a:rPr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5146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Average fashion
return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1463040"/>
            <a:ext cx="1783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87000" y="1463040"/>
            <a:ext cx="178308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691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0D0D"/>
                </a:solidFill>
              </a:rPr>
              <a:t>↓ Returns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5146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AI try-on directly
reduces this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3891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0D0D0D"/>
                </a:solidFill>
              </a:rPr>
              <a:t>India's Gen Z and Millennials expect AI-native apps.
WestSide meets them where they are.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5166360"/>
            <a:ext cx="7589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How WestSide Makes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6400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0D0D"/>
                </a:solidFill>
              </a:rPr>
              <a:t>💰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508760"/>
            <a:ext cx="1033272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3677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% cut on every WestSide sale driven through the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6400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60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0D0D"/>
                </a:solidFill>
              </a:rPr>
              <a:t>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2468880"/>
            <a:ext cx="1033272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560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Brand Partnership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9689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Featured collection placement &amp; sponsored slots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6400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0D0D"/>
                </a:solidFill>
              </a:rPr>
              <a:t>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3429000"/>
            <a:ext cx="1033272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AI 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55701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License the try-on / avatar engine to other fashion brands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6400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480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0D0D"/>
                </a:solidFill>
              </a:rPr>
              <a:t>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4389120"/>
            <a:ext cx="1033272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Premium Sub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51713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Unlimited AI stylist sessions, priority try-on queue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49240"/>
            <a:ext cx="6400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5440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0D0D"/>
                </a:solidFill>
              </a:rPr>
              <a:t>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4440" y="5349240"/>
            <a:ext cx="1033272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440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Data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47725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Anonymised trend data — what users try on but don't buy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0D0D"/>
                </a:solidFill>
              </a:rPr>
              <a:t>Golden Path — From Discovery to Purchase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463040" cy="2560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463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011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5146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Sign up in 30 sec
via Clerk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41732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1417320"/>
            <a:ext cx="1463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8256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011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</a:rPr>
              <a:t>Browse 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25146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Editorial posters
per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417320"/>
            <a:ext cx="1463040" cy="2560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40" y="1417320"/>
            <a:ext cx="1463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2011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Find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25146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Search text,
camera, or browse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141732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417320"/>
            <a:ext cx="1463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48656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6" y="2011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</a:rPr>
              <a:t>Check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25146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Size predictor +
chart built-in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1417320"/>
            <a:ext cx="1463040" cy="2560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20840" y="1417320"/>
            <a:ext cx="1463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8856" y="2011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Try It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8856" y="25146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AI places item
on your photo/avatar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141732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1417320"/>
            <a:ext cx="1463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9056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0D0D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2011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</a:rPr>
              <a:t>Add to Bag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25146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Direct from
try-on screen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1417320"/>
            <a:ext cx="1463040" cy="2560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21240" y="1417320"/>
            <a:ext cx="14630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49256" y="2011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Checkout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9256" y="25146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Stripe payment,
order confirmed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4297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D0D0D"/>
                </a:solidFill>
              </a:rPr>
              <a:t>Each step is a feature we built — not a mockup.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Real Data. Real Brand. Real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0"/>
                </a:solidFill>
              </a:rPr>
              <a:t>Source: Westside by Tata (Shopify public API)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4480560"/>
          </a:xfrm>
          <a:prstGeom prst="rect">
            <a:avLst/>
          </a:prstGeom>
          <a:solidFill>
            <a:srgbClr val="0D0D0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7432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20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12 subcategories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Casual Shirts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Formal Shirts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T-Shirts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Polo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Jeans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Blazers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Trousers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Shorts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Sweatshirts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Footwear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Perfume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920240"/>
            <a:ext cx="2743200" cy="4480560"/>
          </a:xfrm>
          <a:prstGeom prst="rect">
            <a:avLst/>
          </a:prstGeom>
          <a:solidFill>
            <a:srgbClr val="0D0D0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920240"/>
            <a:ext cx="27432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99339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WOMEN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5420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7 subcategories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926080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Western Wear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Ethnic Wear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Co-ords Sets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Lingerie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Handbags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Perfumes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Beauty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920240"/>
            <a:ext cx="2743200" cy="4480560"/>
          </a:xfrm>
          <a:prstGeom prst="rect">
            <a:avLst/>
          </a:prstGeom>
          <a:solidFill>
            <a:srgbClr val="0D0D0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1920240"/>
            <a:ext cx="27432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KIDS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5420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8 subcategories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926080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New Born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Infant Boys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Infant Girls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Jr. Boys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Jr. Girls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Teen Boys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Teen Girls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Footwear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98864" y="1920240"/>
            <a:ext cx="2743200" cy="4480560"/>
          </a:xfrm>
          <a:prstGeom prst="rect">
            <a:avLst/>
          </a:prstGeom>
          <a:solidFill>
            <a:srgbClr val="0D0D0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20240"/>
            <a:ext cx="27432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199339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DECOR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5420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</a:rPr>
              <a:t>4 subcategories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926080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Bed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Bath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Kitchen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FFFFFF"/>
                </a:solidFill>
              </a:rPr>
              <a:t>·  Living Decor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A84C"/>
                </a:solidFill>
              </a:rPr>
              <a:t>31 collection handles  ·  up to 60 products per collection  ·  1,800+ total SKUs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0D0D"/>
                </a:solidFill>
              </a:rPr>
              <a:t>Built from Scratch — In One Hackathon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6304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6304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1645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Full-stack mobile app — backend + mobile + AI in one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46304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46304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1645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Real live product catalog from Westside / Tata via Shopify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46888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246888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6517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AI Virtual Try-On with Gemini 2.5 image generation + caching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46888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246888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26517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Custom avatar builder — photorealistic, fully customisable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47472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47472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657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Voice-enabled AI stylist with safety filtering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347472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347472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3657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Visual search — find catalog matches from any outfit photo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448056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" y="448056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6634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Moodboard engine — 5 images → full outfit recommendation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448056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448056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2864" y="46634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OTA updates — ship changes to installed APKs without app store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548640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" y="548640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5669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" y="56692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Dark mode with CSS variable theming across all screens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5486400"/>
            <a:ext cx="5577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5486400"/>
            <a:ext cx="6400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4224" y="5669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2864" y="56692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</a:rPr>
              <a:t>Privacy-first try-on — screenshot prevention + on-device storage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Where WestSide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5120640"/>
          </a:xfrm>
          <a:prstGeom prst="rect">
            <a:avLst/>
          </a:prstGeom>
          <a:solidFill>
            <a:srgbClr val="1A140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Phase 1
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33172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→  Android APK live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→  Westside catalog seeded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→  AI try-on + avatar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→  Voice stylist + moodboard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→  AWS EC2 deployed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417320"/>
            <a:ext cx="2743200" cy="5120640"/>
          </a:xfrm>
          <a:prstGeom prst="rect">
            <a:avLst/>
          </a:prstGeom>
          <a:solidFill>
            <a:srgbClr val="0D0D0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14173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2
3–6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Live AR try-on (camera)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FASHN.ai garment fitting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iOS App Store release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Multi-brand expansion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Play Store release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417320"/>
            <a:ext cx="2743200" cy="5120640"/>
          </a:xfrm>
          <a:prstGeom prst="rect">
            <a:avLst/>
          </a:prstGeom>
          <a:solidFill>
            <a:srgbClr val="0D0D0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4173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5544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3
6–12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3172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Personalised feed (ML)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Social features &amp; sharing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B2B SaaS try-on SDK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Hindi / Tamil / Bengali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Loyalty program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1417320"/>
            <a:ext cx="2743200" cy="5120640"/>
          </a:xfrm>
          <a:prstGeom prst="rect">
            <a:avLst/>
          </a:prstGeom>
          <a:solidFill>
            <a:srgbClr val="0D0D0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3144" y="14173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5544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4
12+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33172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In-store scan → try-on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Live shopping events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AI stylist co-host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Global brand licensing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A0A0A0"/>
                </a:solidFill>
              </a:rPr>
              <a:t>→  Series A funding target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-548640"/>
            <a:ext cx="59436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0" b="1" i="0">
                <a:solidFill>
                  <a:srgbClr val="1A1A1A"/>
                </a:solidFill>
              </a:rPr>
              <a:t>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WESTSIDE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9A84C"/>
                </a:solidFill>
              </a:rPr>
              <a:t>Where AI meets Indian Fashion.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3756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204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</a:rPr>
              <a:t>·  React Native + Expo SDK 54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</a:rPr>
              <a:t>·  Gemini 2.5 Flash + Vertex AI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</a:rPr>
              <a:t>·  MongoDB Atlas + AWS EC2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</a:rPr>
              <a:t>·  Stripe + Clerk Auth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</a:rPr>
              <a:t>·  GitHub: github.com/akshatt123/WS-APP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